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A87B2CA-5717-387E-F5D2-1E26AEE9B84C}">
          <p14:sldIdLst>
            <p14:sldId id="256"/>
          </p14:sldIdLst>
        </p14:section>
        <p14:section name="Findings" id="{B6D070AA-070C-6D95-ED30-E2BF4F984BA0}">
          <p14:sldIdLst>
            <p14:sldId id="257"/>
            <p14:sldId id="258"/>
            <p14:sldId id="259"/>
          </p14:sldIdLst>
        </p14:section>
        <p14:section name="Limits and conclusions" id="{EFA4ED16-8940-9077-3F36-9B6B2874782E}">
          <p14:sldIdLst>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CDCD"/>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5" d="100"/>
          <a:sy n="135" d="100"/>
        </p:scale>
        <p:origin x="126" y="2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E2A33"/>
                </a:solidFill>
                <a:latin typeface="+mn-lt"/>
              </a:defRPr>
            </a:pPr>
            <a:r>
              <a:rPr lang="en-US" sz="1300" b="0" i="0" u="none" strike="noStrike" dirty="0">
                <a:solidFill>
                  <a:srgbClr val="1E2A33"/>
                </a:solidFill>
                <a:latin typeface="Arial" panose="020B0604020202020204" pitchFamily="34" charset="0"/>
              </a:rPr>
              <a:t>Share of students passing (%)</a:t>
            </a:r>
          </a:p>
        </c:rich>
      </c:tx>
      <c:overlay val="0"/>
    </c:title>
    <c:autoTitleDeleted val="0"/>
    <c:plotArea>
      <c:layout/>
      <c:barChart>
        <c:barDir val="col"/>
        <c:grouping val="clustered"/>
        <c:varyColors val="0"/>
        <c:ser>
          <c:idx val="0"/>
          <c:order val="0"/>
          <c:tx>
            <c:strRef>
              <c:f>Sheet1!$B$1</c:f>
              <c:strCache>
                <c:ptCount val="1"/>
                <c:pt idx="0">
                  <c:v>Pass rate</c:v>
                </c:pt>
              </c:strCache>
            </c:strRef>
          </c:tx>
          <c:spPr>
            <a:solidFill>
              <a:srgbClr val="1F3A4D"/>
            </a:solidFill>
            <a:effectLst/>
          </c:spPr>
          <c:invertIfNegative val="0"/>
          <c:dPt>
            <c:idx val="0"/>
            <c:invertIfNegative val="0"/>
            <c:bubble3D val="0"/>
            <c:extLst>
              <c:ext xmlns:c16="http://schemas.microsoft.com/office/drawing/2014/chart" uri="{C3380CC4-5D6E-409C-BE32-E72D297353CC}">
                <c16:uniqueId val="{00000001-DF1C-4477-8B61-EA68065D7E18}"/>
              </c:ext>
            </c:extLst>
          </c:dPt>
          <c:dPt>
            <c:idx val="1"/>
            <c:invertIfNegative val="0"/>
            <c:bubble3D val="0"/>
            <c:spPr>
              <a:solidFill>
                <a:srgbClr val="C0392B"/>
              </a:solidFill>
              <a:effectLst/>
            </c:spPr>
            <c:extLst>
              <c:ext xmlns:c16="http://schemas.microsoft.com/office/drawing/2014/chart" uri="{C3380CC4-5D6E-409C-BE32-E72D297353CC}">
                <c16:uniqueId val="{00000003-DF1C-4477-8B61-EA68065D7E18}"/>
              </c:ext>
            </c:extLst>
          </c:dPt>
          <c:dPt>
            <c:idx val="2"/>
            <c:invertIfNegative val="0"/>
            <c:bubble3D val="0"/>
            <c:spPr>
              <a:solidFill>
                <a:srgbClr val="C0392B"/>
              </a:solidFill>
              <a:effectLst/>
            </c:spPr>
            <c:extLst>
              <c:ext xmlns:c16="http://schemas.microsoft.com/office/drawing/2014/chart" uri="{C3380CC4-5D6E-409C-BE32-E72D297353CC}">
                <c16:uniqueId val="{00000005-DF1C-4477-8B61-EA68065D7E18}"/>
              </c:ext>
            </c:extLst>
          </c:dPt>
          <c:dLbls>
            <c:numFmt formatCode="0&quot;%&quot;" sourceLinked="0"/>
            <c:spPr>
              <a:noFill/>
              <a:ln>
                <a:noFill/>
              </a:ln>
              <a:effectLst/>
            </c:spPr>
            <c:txPr>
              <a:bodyPr/>
              <a:lstStyle/>
              <a:p>
                <a:pPr>
                  <a:defRPr sz="1400" b="0" i="0" u="none" strike="noStrike">
                    <a:solidFill>
                      <a:srgbClr val="1E2A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No previous failures</c:v>
                </c:pt>
                <c:pt idx="1">
                  <c:v>One</c:v>
                </c:pt>
                <c:pt idx="2">
                  <c:v>Two or more</c:v>
                </c:pt>
              </c:strCache>
            </c:strRef>
          </c:cat>
          <c:val>
            <c:numRef>
              <c:f>Sheet1!$B$2:$B$4</c:f>
              <c:numCache>
                <c:formatCode>General</c:formatCode>
                <c:ptCount val="3"/>
                <c:pt idx="0">
                  <c:v>75</c:v>
                </c:pt>
                <c:pt idx="1">
                  <c:v>48</c:v>
                </c:pt>
                <c:pt idx="2">
                  <c:v>21</c:v>
                </c:pt>
              </c:numCache>
            </c:numRef>
          </c:val>
          <c:extLst>
            <c:ext xmlns:c16="http://schemas.microsoft.com/office/drawing/2014/chart" uri="{C3380CC4-5D6E-409C-BE32-E72D297353CC}">
              <c16:uniqueId val="{00000006-DF1C-4477-8B61-EA68065D7E1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A33"/>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E2A33"/>
                </a:solidFill>
                <a:latin typeface="+mn-lt"/>
              </a:defRPr>
            </a:pPr>
            <a:r>
              <a:rPr lang="en-US" sz="1300" b="0" i="0" u="none" strike="noStrike" dirty="0">
                <a:solidFill>
                  <a:srgbClr val="1E2A33"/>
                </a:solidFill>
                <a:latin typeface="Arial" panose="020B0604020202020204" pitchFamily="34" charset="0"/>
              </a:rPr>
              <a:t>Predicted chance of passing (%) by previous failures</a:t>
            </a:r>
          </a:p>
        </c:rich>
      </c:tx>
      <c:overlay val="0"/>
    </c:title>
    <c:autoTitleDeleted val="0"/>
    <c:plotArea>
      <c:layout/>
      <c:lineChart>
        <c:grouping val="standard"/>
        <c:varyColors val="0"/>
        <c:ser>
          <c:idx val="0"/>
          <c:order val="0"/>
          <c:tx>
            <c:strRef>
              <c:f>Sheet1!$B$1</c:f>
              <c:strCache>
                <c:ptCount val="1"/>
                <c:pt idx="0">
                  <c:v>Goes out very little</c:v>
                </c:pt>
              </c:strCache>
            </c:strRef>
          </c:tx>
          <c:spPr>
            <a:ln w="38100" cap="flat">
              <a:solidFill>
                <a:srgbClr val="2E86C1"/>
              </a:solidFill>
              <a:prstDash val="solid"/>
              <a:round/>
            </a:ln>
            <a:effectLst/>
          </c:spPr>
          <c:marker>
            <c:symbol val="circle"/>
            <c:size val="8"/>
            <c:spPr>
              <a:solidFill>
                <a:srgbClr val="2E86C1"/>
              </a:solidFill>
              <a:ln w="9525" cap="flat">
                <a:solidFill>
                  <a:srgbClr val="2E86C1"/>
                </a:solidFill>
                <a:prstDash val="solid"/>
                <a:round/>
              </a:ln>
              <a:effectLst/>
            </c:spPr>
          </c:marker>
          <c:cat>
            <c:strRef>
              <c:f>Sheet1!$A$2:$A$5</c:f>
              <c:strCache>
                <c:ptCount val="4"/>
                <c:pt idx="0">
                  <c:v>0</c:v>
                </c:pt>
                <c:pt idx="1">
                  <c:v>1</c:v>
                </c:pt>
                <c:pt idx="2">
                  <c:v>2</c:v>
                </c:pt>
                <c:pt idx="3">
                  <c:v>3+</c:v>
                </c:pt>
              </c:strCache>
            </c:strRef>
          </c:cat>
          <c:val>
            <c:numRef>
              <c:f>Sheet1!$B$2:$B$5</c:f>
              <c:numCache>
                <c:formatCode>General</c:formatCode>
                <c:ptCount val="4"/>
                <c:pt idx="0">
                  <c:v>84</c:v>
                </c:pt>
                <c:pt idx="1">
                  <c:v>68</c:v>
                </c:pt>
                <c:pt idx="2">
                  <c:v>47</c:v>
                </c:pt>
                <c:pt idx="3">
                  <c:v>27</c:v>
                </c:pt>
              </c:numCache>
            </c:numRef>
          </c:val>
          <c:smooth val="0"/>
          <c:extLst>
            <c:ext xmlns:c16="http://schemas.microsoft.com/office/drawing/2014/chart" uri="{C3380CC4-5D6E-409C-BE32-E72D297353CC}">
              <c16:uniqueId val="{00000000-E881-4BA9-97C7-2755B998067B}"/>
            </c:ext>
          </c:extLst>
        </c:ser>
        <c:ser>
          <c:idx val="1"/>
          <c:order val="1"/>
          <c:tx>
            <c:strRef>
              <c:f>Sheet1!$C$1</c:f>
              <c:strCache>
                <c:ptCount val="1"/>
                <c:pt idx="0">
                  <c:v>Average</c:v>
                </c:pt>
              </c:strCache>
            </c:strRef>
          </c:tx>
          <c:spPr>
            <a:ln w="38100" cap="flat">
              <a:solidFill>
                <a:srgbClr val="7A8A96"/>
              </a:solidFill>
              <a:prstDash val="solid"/>
              <a:round/>
            </a:ln>
            <a:effectLst/>
          </c:spPr>
          <c:marker>
            <c:symbol val="circle"/>
            <c:size val="8"/>
            <c:spPr>
              <a:solidFill>
                <a:srgbClr val="7A8A96"/>
              </a:solidFill>
              <a:ln w="9525" cap="flat">
                <a:solidFill>
                  <a:srgbClr val="7A8A96"/>
                </a:solidFill>
                <a:prstDash val="solid"/>
                <a:round/>
              </a:ln>
              <a:effectLst/>
            </c:spPr>
          </c:marker>
          <c:cat>
            <c:strRef>
              <c:f>Sheet1!$A$2:$A$5</c:f>
              <c:strCache>
                <c:ptCount val="4"/>
                <c:pt idx="0">
                  <c:v>0</c:v>
                </c:pt>
                <c:pt idx="1">
                  <c:v>1</c:v>
                </c:pt>
                <c:pt idx="2">
                  <c:v>2</c:v>
                </c:pt>
                <c:pt idx="3">
                  <c:v>3+</c:v>
                </c:pt>
              </c:strCache>
            </c:strRef>
          </c:cat>
          <c:val>
            <c:numRef>
              <c:f>Sheet1!$C$2:$C$5</c:f>
              <c:numCache>
                <c:formatCode>General</c:formatCode>
                <c:ptCount val="4"/>
                <c:pt idx="0">
                  <c:v>72</c:v>
                </c:pt>
                <c:pt idx="1">
                  <c:v>52</c:v>
                </c:pt>
                <c:pt idx="2">
                  <c:v>31</c:v>
                </c:pt>
                <c:pt idx="3">
                  <c:v>16</c:v>
                </c:pt>
              </c:numCache>
            </c:numRef>
          </c:val>
          <c:smooth val="0"/>
          <c:extLst>
            <c:ext xmlns:c16="http://schemas.microsoft.com/office/drawing/2014/chart" uri="{C3380CC4-5D6E-409C-BE32-E72D297353CC}">
              <c16:uniqueId val="{00000001-E881-4BA9-97C7-2755B998067B}"/>
            </c:ext>
          </c:extLst>
        </c:ser>
        <c:ser>
          <c:idx val="2"/>
          <c:order val="2"/>
          <c:tx>
            <c:strRef>
              <c:f>Sheet1!$D$1</c:f>
              <c:strCache>
                <c:ptCount val="1"/>
                <c:pt idx="0">
                  <c:v>Goes out very often</c:v>
                </c:pt>
              </c:strCache>
            </c:strRef>
          </c:tx>
          <c:spPr>
            <a:ln w="38100" cap="flat">
              <a:solidFill>
                <a:srgbClr val="C0392B"/>
              </a:solidFill>
              <a:prstDash val="solid"/>
              <a:round/>
            </a:ln>
            <a:effectLst/>
          </c:spPr>
          <c:marker>
            <c:symbol val="circle"/>
            <c:size val="8"/>
            <c:spPr>
              <a:solidFill>
                <a:srgbClr val="C0392B"/>
              </a:solidFill>
              <a:ln w="9525" cap="flat">
                <a:solidFill>
                  <a:srgbClr val="C0392B"/>
                </a:solidFill>
                <a:prstDash val="solid"/>
                <a:round/>
              </a:ln>
              <a:effectLst/>
            </c:spPr>
          </c:marker>
          <c:cat>
            <c:strRef>
              <c:f>Sheet1!$A$2:$A$5</c:f>
              <c:strCache>
                <c:ptCount val="4"/>
                <c:pt idx="0">
                  <c:v>0</c:v>
                </c:pt>
                <c:pt idx="1">
                  <c:v>1</c:v>
                </c:pt>
                <c:pt idx="2">
                  <c:v>2</c:v>
                </c:pt>
                <c:pt idx="3">
                  <c:v>3+</c:v>
                </c:pt>
              </c:strCache>
            </c:strRef>
          </c:cat>
          <c:val>
            <c:numRef>
              <c:f>Sheet1!$D$2:$D$5</c:f>
              <c:numCache>
                <c:formatCode>General</c:formatCode>
                <c:ptCount val="4"/>
                <c:pt idx="0">
                  <c:v>56</c:v>
                </c:pt>
                <c:pt idx="1">
                  <c:v>35</c:v>
                </c:pt>
                <c:pt idx="2">
                  <c:v>18</c:v>
                </c:pt>
                <c:pt idx="3">
                  <c:v>9</c:v>
                </c:pt>
              </c:numCache>
            </c:numRef>
          </c:val>
          <c:smooth val="0"/>
          <c:extLst>
            <c:ext xmlns:c16="http://schemas.microsoft.com/office/drawing/2014/chart" uri="{C3380CC4-5D6E-409C-BE32-E72D297353CC}">
              <c16:uniqueId val="{00000002-E881-4BA9-97C7-2755B998067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1E2A33"/>
                    </a:solidFill>
                    <a:latin typeface="Arial"/>
                  </a:defRPr>
                </a:pPr>
                <a:r>
                  <a:rPr lang="en-US" sz="1100" b="0" i="0" u="none" strike="noStrike">
                    <a:solidFill>
                      <a:srgbClr val="1E2A33"/>
                    </a:solidFill>
                    <a:latin typeface="Arial"/>
                  </a:rPr>
                  <a:t>Previous class failures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A33"/>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DE3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E2A33"/>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100">
              <a:solidFill>
                <a:srgbClr val="1E2A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3113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summarise what the data say about which students are at risk of failing Mathematics, how sure we can be, and what should not be concluded. Audience: school decision-makers.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38 students with a grade of 0 all have zero recorded absences, which strongly suggests they stopped attending or did not sit the final exam. This matters later: how we treat them changes some results.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sizes: 312 with no previous failures, 50 with one, 33 with two or more. In the regression model, each previous failure is linked to a final grade about 1.8 points lower out of 20, holding other characteristics constant.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 student: female, wants to go to university, mother with secondary education, studies 2 to 5 hours a week, 4 absences. These are model predictions, not guarantees for any individual.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Statistically, the link with previous failures is very strong. The links with going out and mother's education are real but small: about half a grade point per step. Accuracy: 73% overall, versus 67% from simply predicting that everyone passes.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observational data: nothing was tested by changing conditions, so we see associations, not causes. Extra school support looks linked to lower pass rates only because it is given to students who are already struggling. Suggested next step: use past failures as an early flag for support, and record why students do not sit the final exam.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p:nvPr>
        </p:nvSpPr>
        <p:spPr>
          <a:xfrm>
            <a:off x="548640" y="1188720"/>
            <a:ext cx="8046720" cy="1463040"/>
          </a:xfrm>
          <a:prstGeom prst="rect">
            <a:avLst/>
          </a:prstGeom>
          <a:noFill/>
          <a:ln/>
        </p:spPr>
        <p:txBody>
          <a:bodyPr wrap="square" rtlCol="0"/>
          <a:lstStyle>
            <a:lvl1pPr marL="0" indent="0" algn="l">
              <a:buNone/>
              <a:defRPr lang="en-US" sz="3800" b="1" dirty="0">
                <a:solidFill>
                  <a:schemeClr val="bg1"/>
                </a:solidFill>
                <a:latin typeface="Arial" panose="020B0604020202020204" pitchFamily="34" charset="0"/>
                <a:cs typeface="Arial" panose="020B0604020202020204" pitchFamily="34" charset="0"/>
              </a:defRPr>
            </a:lvl1pPr>
          </a:lstStyle>
          <a:p>
            <a:pPr marL="0" indent="0" algn="l">
              <a:buNone/>
            </a:pPr>
            <a:endParaRPr lang="en-US" sz="3800" dirty="0"/>
          </a:p>
        </p:txBody>
      </p:sp>
      <p:sp>
        <p:nvSpPr>
          <p:cNvPr id="3" name="Text 0"/>
          <p:cNvSpPr>
            <a:spLocks noGrp="1"/>
          </p:cNvSpPr>
          <p:nvPr>
            <p:ph type="body" idx="101"/>
          </p:nvPr>
        </p:nvSpPr>
        <p:spPr>
          <a:xfrm>
            <a:off x="548640" y="2788920"/>
            <a:ext cx="8046720" cy="1280160"/>
          </a:xfrm>
          <a:prstGeom prst="rect">
            <a:avLst/>
          </a:prstGeom>
          <a:noFill/>
          <a:ln/>
        </p:spPr>
        <p:txBody>
          <a:bodyPr wrap="square" rtlCol="0"/>
          <a:lstStyle>
            <a:lvl1pPr marL="0" indent="0">
              <a:buNone/>
              <a:defRPr lang="en-US" sz="1600" dirty="0">
                <a:solidFill>
                  <a:schemeClr val="bg2"/>
                </a:solidFill>
                <a:latin typeface="Arial" panose="020B0604020202020204" pitchFamily="34" charset="0"/>
                <a:cs typeface="Arial" panose="020B0604020202020204" pitchFamily="34" charset="0"/>
              </a:defRPr>
            </a:lvl1pPr>
          </a:lstStyle>
          <a:p>
            <a:pPr marL="0" indent="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p:nvPr>
        </p:nvSpPr>
        <p:spPr>
          <a:xfrm>
            <a:off x="457200" y="274320"/>
            <a:ext cx="8229600" cy="731520"/>
          </a:xfrm>
          <a:prstGeom prst="rect">
            <a:avLst/>
          </a:prstGeom>
          <a:noFill/>
          <a:ln/>
        </p:spPr>
        <p:txBody>
          <a:bodyPr wrap="square" rtlCol="0"/>
          <a:lstStyle>
            <a:lvl1pPr marL="0" indent="0" algn="l">
              <a:buNone/>
              <a:defRPr lang="en-US" sz="2800" b="1" dirty="0">
                <a:solidFill>
                  <a:srgbClr val="000000"/>
                </a:solidFill>
                <a:latin typeface="Arial" panose="020B0604020202020204" pitchFamily="34" charset="0"/>
                <a:cs typeface="Arial" panose="020B0604020202020204" pitchFamily="34" charset="0"/>
              </a:defRPr>
            </a:lvl1pPr>
          </a:lstStyle>
          <a:p>
            <a:pPr marL="0" indent="0" algn="l">
              <a:buNone/>
            </a:pPr>
            <a:endParaRPr lang="en-US" sz="2800" dirty="0"/>
          </a:p>
        </p:txBody>
      </p:sp>
      <p:sp>
        <p:nvSpPr>
          <p:cNvPr id="3" name="Text 0"/>
          <p:cNvSpPr/>
          <p:nvPr/>
        </p:nvSpPr>
        <p:spPr>
          <a:xfrm>
            <a:off x="457200" y="4754880"/>
            <a:ext cx="6400800" cy="274320"/>
          </a:xfrm>
          <a:prstGeom prst="rect">
            <a:avLst/>
          </a:prstGeom>
          <a:noFill/>
          <a:ln/>
        </p:spPr>
        <p:txBody>
          <a:bodyPr wrap="square" lIns="0" tIns="0" rIns="0" bIns="0" rtlCol="0" anchor="ctr"/>
          <a:lstStyle/>
          <a:p>
            <a:pPr marL="0" indent="0">
              <a:buNone/>
            </a:pPr>
            <a:r>
              <a:rPr lang="en-US" sz="900" dirty="0">
                <a:solidFill>
                  <a:schemeClr val="bg1">
                    <a:lumMod val="50000"/>
                  </a:schemeClr>
                </a:solidFill>
                <a:latin typeface="Arial" panose="020B0604020202020204" pitchFamily="34" charset="0"/>
              </a:rPr>
              <a:t> LEAP Final Project</a:t>
            </a:r>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bg1">
                    <a:lumMod val="50000"/>
                  </a:schemeClr>
                </a:solidFill>
              </a:defRPr>
            </a:lvl1pPr>
          </a:lstStyle>
          <a:p>
            <a:pPr algn="r"/>
            <a:fld id="{F7021451-1387-4CA6-816F-3879F97B5CBC}" type="slidenum">
              <a:rPr lang="en-US" smtClean="0"/>
              <a:pPr algn="r"/>
              <a:t>‹#›</a:t>
            </a:fld>
            <a:endParaRPr lang="en-US" dirty="0">
              <a:solidFill>
                <a:schemeClr val="bg1">
                  <a:lumMod val="50000"/>
                </a:scheme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latin typeface="Arial" panose="020B0604020202020204" pitchFamily="34" charset="0"/>
              </a:defRPr>
            </a:lvl1pPr>
          </a:lstStyle>
          <a:p>
            <a:pPr algn="r"/>
            <a:fld id="{F7021451-1387-4CA6-816F-3879F97B5CBC}" type="slidenum">
              <a:rPr lang="en-US" smtClean="0"/>
              <a:pPr algn="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45414" y="777597"/>
            <a:ext cx="7749946" cy="1463040"/>
          </a:xfrm>
          <a:prstGeom prst="rect">
            <a:avLst/>
          </a:prstGeom>
          <a:noFill/>
          <a:ln/>
        </p:spPr>
        <p:txBody>
          <a:bodyPr wrap="square" lIns="0" tIns="0" rIns="0" bIns="0" rtlCol="0" anchor="b"/>
          <a:lstStyle/>
          <a:p>
            <a:pPr marL="0" indent="0" algn="l">
              <a:buNone/>
            </a:pPr>
            <a:r>
              <a:rPr lang="en-US" sz="3600" b="1" dirty="0">
                <a:solidFill>
                  <a:srgbClr val="CDCDCD"/>
                </a:solidFill>
              </a:rPr>
              <a:t>What is linked to failing Mathematics?</a:t>
            </a:r>
            <a:endParaRPr lang="en-US" sz="3600" dirty="0">
              <a:solidFill>
                <a:srgbClr val="CDCDCD"/>
              </a:solidFill>
            </a:endParaRPr>
          </a:p>
        </p:txBody>
      </p:sp>
      <p:sp>
        <p:nvSpPr>
          <p:cNvPr id="3" name="Text 0"/>
          <p:cNvSpPr>
            <a:spLocks noGrp="1"/>
          </p:cNvSpPr>
          <p:nvPr>
            <p:ph type="body" idx="101" hasCustomPrompt="1"/>
          </p:nvPr>
        </p:nvSpPr>
        <p:spPr>
          <a:xfrm>
            <a:off x="845413" y="2377797"/>
            <a:ext cx="7749947" cy="705647"/>
          </a:xfrm>
          <a:prstGeom prst="rect">
            <a:avLst/>
          </a:prstGeom>
          <a:noFill/>
          <a:ln/>
        </p:spPr>
        <p:txBody>
          <a:bodyPr wrap="square" lIns="0" tIns="0" rIns="0" bIns="0" rtlCol="0" anchor="t"/>
          <a:lstStyle/>
          <a:p>
            <a:pPr marL="0" indent="0">
              <a:buNone/>
            </a:pPr>
            <a:r>
              <a:rPr lang="en-US" sz="1600" dirty="0">
                <a:solidFill>
                  <a:schemeClr val="bg2"/>
                </a:solidFill>
              </a:rPr>
              <a:t>Findings from 395 secondary-school students in two Portuguese schools</a:t>
            </a:r>
            <a:endParaRPr lang="tr-TR" sz="1600" dirty="0">
              <a:solidFill>
                <a:schemeClr val="bg2"/>
              </a:solidFill>
            </a:endParaRPr>
          </a:p>
        </p:txBody>
      </p:sp>
      <p:pic>
        <p:nvPicPr>
          <p:cNvPr id="5" name="Picture 4">
            <a:extLst>
              <a:ext uri="{FF2B5EF4-FFF2-40B4-BE49-F238E27FC236}">
                <a16:creationId xmlns:a16="http://schemas.microsoft.com/office/drawing/2014/main" id="{C1F0C808-C43A-BA82-C3AD-03AC0D405954}"/>
              </a:ext>
            </a:extLst>
          </p:cNvPr>
          <p:cNvPicPr>
            <a:picLocks noChangeAspect="1"/>
          </p:cNvPicPr>
          <p:nvPr/>
        </p:nvPicPr>
        <p:blipFill>
          <a:blip r:embed="rId3">
            <a:lum bright="70000" contrast="-70000"/>
          </a:blip>
          <a:stretch>
            <a:fillRect/>
          </a:stretch>
        </p:blipFill>
        <p:spPr>
          <a:xfrm>
            <a:off x="854236" y="3631727"/>
            <a:ext cx="700838" cy="700838"/>
          </a:xfrm>
          <a:prstGeom prst="rect">
            <a:avLst/>
          </a:prstGeom>
        </p:spPr>
      </p:pic>
      <p:sp>
        <p:nvSpPr>
          <p:cNvPr id="6" name="Text 0">
            <a:extLst>
              <a:ext uri="{FF2B5EF4-FFF2-40B4-BE49-F238E27FC236}">
                <a16:creationId xmlns:a16="http://schemas.microsoft.com/office/drawing/2014/main" id="{81D9C034-6CD9-A2F9-EC0D-EF47DD932328}"/>
              </a:ext>
            </a:extLst>
          </p:cNvPr>
          <p:cNvSpPr txBox="1">
            <a:spLocks/>
          </p:cNvSpPr>
          <p:nvPr/>
        </p:nvSpPr>
        <p:spPr>
          <a:xfrm>
            <a:off x="1744687" y="3671779"/>
            <a:ext cx="5951398" cy="700838"/>
          </a:xfrm>
          <a:prstGeom prst="rect">
            <a:avLst/>
          </a:prstGeom>
          <a:noFill/>
          <a:ln/>
        </p:spPr>
        <p:txBody>
          <a:bodyPr wrap="square" lIns="0" tIns="0" rIns="0" bIns="0" rtlCol="0" anchor="t"/>
          <a:lstStyle>
            <a:lvl1pPr marL="0" indent="0" algn="l" defTabSz="914400" rtl="0" eaLnBrk="1" latinLnBrk="0" hangingPunct="1">
              <a:spcBef>
                <a:spcPct val="20000"/>
              </a:spcBef>
              <a:buFont typeface="Arial" pitchFamily="34" charset="0"/>
              <a:buNone/>
              <a:defRPr lang="en-US" sz="1600" kern="1200" dirty="0">
                <a:solidFill>
                  <a:schemeClr val="bg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dirty="0">
                <a:solidFill>
                  <a:schemeClr val="accent5"/>
                </a:solidFill>
              </a:rPr>
              <a:t>Tarık Beyhan</a:t>
            </a:r>
          </a:p>
          <a:p>
            <a:r>
              <a:rPr lang="en-US" sz="1200" dirty="0">
                <a:solidFill>
                  <a:schemeClr val="accent5"/>
                </a:solidFill>
              </a:rPr>
              <a:t>LEAP Data Analytics and Statistics</a:t>
            </a:r>
          </a:p>
          <a:p>
            <a:r>
              <a:rPr lang="en-US" sz="1200" dirty="0">
                <a:solidFill>
                  <a:schemeClr val="accent5"/>
                </a:solidFill>
              </a:rPr>
              <a:t>October 2026</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2800" b="1" dirty="0">
                <a:solidFill>
                  <a:schemeClr val="tx2"/>
                </a:solidFill>
              </a:rPr>
              <a:t>One in three students did not pass</a:t>
            </a:r>
            <a:endParaRPr lang="en-US" sz="2800" dirty="0"/>
          </a:p>
        </p:txBody>
      </p:sp>
      <p:sp>
        <p:nvSpPr>
          <p:cNvPr id="3" name="Text 1"/>
          <p:cNvSpPr txBox="1"/>
          <p:nvPr/>
        </p:nvSpPr>
        <p:spPr>
          <a:xfrm>
            <a:off x="457200" y="1051560"/>
            <a:ext cx="8229600" cy="640080"/>
          </a:xfrm>
          <a:prstGeom prst="rect">
            <a:avLst/>
          </a:prstGeom>
          <a:noFill/>
          <a:ln/>
        </p:spPr>
        <p:txBody>
          <a:bodyPr wrap="square" lIns="0" tIns="0" rIns="0" bIns="0" rtlCol="0" anchor="ctr"/>
          <a:lstStyle/>
          <a:p>
            <a:pPr marL="0" indent="0">
              <a:buNone/>
            </a:pPr>
            <a:r>
              <a:rPr lang="en-US" sz="1500" dirty="0">
                <a:solidFill>
                  <a:schemeClr val="tx1"/>
                </a:solidFill>
                <a:latin typeface="Arial" panose="020B0604020202020204" pitchFamily="34" charset="0"/>
              </a:rPr>
              <a:t>We looked at school records and a questionnaire for 395 students (2005 to 2006) to see which characteristics go together with a lower final grade and with failing (below 10 out of 20).</a:t>
            </a:r>
            <a:endParaRPr lang="en-US" sz="1500" dirty="0">
              <a:latin typeface="Arial" panose="020B0604020202020204" pitchFamily="34" charset="0"/>
            </a:endParaRPr>
          </a:p>
        </p:txBody>
      </p:sp>
      <p:sp>
        <p:nvSpPr>
          <p:cNvPr id="4" name="stat0"/>
          <p:cNvSpPr/>
          <p:nvPr/>
        </p:nvSpPr>
        <p:spPr>
          <a:xfrm>
            <a:off x="457200" y="1920240"/>
            <a:ext cx="2560320" cy="2468880"/>
          </a:xfrm>
          <a:prstGeom prst="roundRect">
            <a:avLst>
              <a:gd name="adj" fmla="val 2963"/>
            </a:avLst>
          </a:prstGeom>
          <a:solidFill>
            <a:srgbClr val="EEF2F4"/>
          </a:solidFill>
          <a:ln w="12700">
            <a:solidFill>
              <a:srgbClr val="EEF2F4"/>
            </a:solidFill>
            <a:prstDash val="solid"/>
          </a:ln>
        </p:spPr>
        <p:txBody>
          <a:bodyPr/>
          <a:lstStyle/>
          <a:p>
            <a:endParaRPr lang="tr-TR" dirty="0">
              <a:latin typeface="Arial" panose="020B0604020202020204" pitchFamily="34" charset="0"/>
            </a:endParaRPr>
          </a:p>
        </p:txBody>
      </p:sp>
      <p:sp>
        <p:nvSpPr>
          <p:cNvPr id="5" name="statBig0"/>
          <p:cNvSpPr txBox="1"/>
          <p:nvPr/>
        </p:nvSpPr>
        <p:spPr>
          <a:xfrm>
            <a:off x="640080" y="2103120"/>
            <a:ext cx="2194560" cy="1005840"/>
          </a:xfrm>
          <a:prstGeom prst="rect">
            <a:avLst/>
          </a:prstGeom>
          <a:noFill/>
          <a:ln/>
        </p:spPr>
        <p:txBody>
          <a:bodyPr wrap="square" lIns="0" tIns="0" rIns="0" bIns="0" rtlCol="0" anchor="ctr"/>
          <a:lstStyle/>
          <a:p>
            <a:pPr marL="0" indent="0">
              <a:buNone/>
            </a:pPr>
            <a:r>
              <a:rPr lang="en-US" sz="4800" b="1" dirty="0">
                <a:solidFill>
                  <a:schemeClr val="accent1"/>
                </a:solidFill>
                <a:latin typeface="Arial" panose="020B0604020202020204" pitchFamily="34" charset="0"/>
                <a:ea typeface="Cambria" pitchFamily="34" charset="-122"/>
                <a:cs typeface="Arial" panose="020B0604020202020204" pitchFamily="34" charset="0"/>
              </a:rPr>
              <a:t>33%</a:t>
            </a:r>
            <a:endParaRPr lang="en-US" sz="4800" dirty="0">
              <a:latin typeface="Arial" panose="020B0604020202020204" pitchFamily="34" charset="0"/>
            </a:endParaRPr>
          </a:p>
        </p:txBody>
      </p:sp>
      <p:sp>
        <p:nvSpPr>
          <p:cNvPr id="6" name="statSmall0"/>
          <p:cNvSpPr txBox="1"/>
          <p:nvPr/>
        </p:nvSpPr>
        <p:spPr>
          <a:xfrm>
            <a:off x="640080" y="3154680"/>
            <a:ext cx="2194560" cy="1005840"/>
          </a:xfrm>
          <a:prstGeom prst="rect">
            <a:avLst/>
          </a:prstGeom>
          <a:noFill/>
          <a:ln/>
        </p:spPr>
        <p:txBody>
          <a:bodyPr wrap="square" lIns="0" tIns="0" rIns="0" bIns="0" rtlCol="0" anchor="t"/>
          <a:lstStyle/>
          <a:p>
            <a:pPr marL="0" indent="0">
              <a:buNone/>
            </a:pPr>
            <a:r>
              <a:rPr lang="en-US" sz="1400" dirty="0">
                <a:solidFill>
                  <a:schemeClr val="tx1"/>
                </a:solidFill>
                <a:latin typeface="Arial" panose="020B0604020202020204" pitchFamily="34" charset="0"/>
              </a:rPr>
              <a:t>failed the final Mathematics grade (130 of 395)</a:t>
            </a:r>
            <a:endParaRPr lang="en-US" sz="1400" dirty="0">
              <a:latin typeface="Arial" panose="020B0604020202020204" pitchFamily="34" charset="0"/>
            </a:endParaRPr>
          </a:p>
        </p:txBody>
      </p:sp>
      <p:sp>
        <p:nvSpPr>
          <p:cNvPr id="7" name="stat1"/>
          <p:cNvSpPr/>
          <p:nvPr/>
        </p:nvSpPr>
        <p:spPr>
          <a:xfrm>
            <a:off x="3291840" y="1920240"/>
            <a:ext cx="2560320" cy="2468880"/>
          </a:xfrm>
          <a:prstGeom prst="roundRect">
            <a:avLst>
              <a:gd name="adj" fmla="val 2963"/>
            </a:avLst>
          </a:prstGeom>
          <a:solidFill>
            <a:srgbClr val="EEF2F4"/>
          </a:solidFill>
          <a:ln w="12700">
            <a:solidFill>
              <a:srgbClr val="EEF2F4"/>
            </a:solidFill>
            <a:prstDash val="solid"/>
          </a:ln>
        </p:spPr>
        <p:txBody>
          <a:bodyPr/>
          <a:lstStyle/>
          <a:p>
            <a:endParaRPr lang="tr-TR" dirty="0">
              <a:latin typeface="Arial" panose="020B0604020202020204" pitchFamily="34" charset="0"/>
            </a:endParaRPr>
          </a:p>
        </p:txBody>
      </p:sp>
      <p:sp>
        <p:nvSpPr>
          <p:cNvPr id="8" name="statBig1"/>
          <p:cNvSpPr txBox="1"/>
          <p:nvPr/>
        </p:nvSpPr>
        <p:spPr>
          <a:xfrm>
            <a:off x="3474720" y="2103120"/>
            <a:ext cx="2194560" cy="1005840"/>
          </a:xfrm>
          <a:prstGeom prst="rect">
            <a:avLst/>
          </a:prstGeom>
          <a:noFill/>
          <a:ln/>
        </p:spPr>
        <p:txBody>
          <a:bodyPr wrap="square" lIns="0" tIns="0" rIns="0" bIns="0" rtlCol="0" anchor="ctr"/>
          <a:lstStyle/>
          <a:p>
            <a:pPr marL="0" indent="0">
              <a:buNone/>
            </a:pPr>
            <a:r>
              <a:rPr lang="en-US" sz="4800" b="1" dirty="0">
                <a:solidFill>
                  <a:schemeClr val="tx2"/>
                </a:solidFill>
                <a:latin typeface="Arial" panose="020B0604020202020204" pitchFamily="34" charset="0"/>
                <a:ea typeface="Cambria" pitchFamily="34" charset="-122"/>
                <a:cs typeface="Arial" panose="020B0604020202020204" pitchFamily="34" charset="0"/>
              </a:rPr>
              <a:t>1 in 10</a:t>
            </a:r>
            <a:endParaRPr lang="en-US" sz="4800" dirty="0">
              <a:latin typeface="Arial" panose="020B0604020202020204" pitchFamily="34" charset="0"/>
            </a:endParaRPr>
          </a:p>
        </p:txBody>
      </p:sp>
      <p:sp>
        <p:nvSpPr>
          <p:cNvPr id="9" name="statSmall1"/>
          <p:cNvSpPr txBox="1"/>
          <p:nvPr/>
        </p:nvSpPr>
        <p:spPr>
          <a:xfrm>
            <a:off x="3474720" y="3154680"/>
            <a:ext cx="2194560" cy="1005840"/>
          </a:xfrm>
          <a:prstGeom prst="rect">
            <a:avLst/>
          </a:prstGeom>
          <a:noFill/>
          <a:ln/>
        </p:spPr>
        <p:txBody>
          <a:bodyPr wrap="square" lIns="0" tIns="0" rIns="0" bIns="0" rtlCol="0" anchor="t"/>
          <a:lstStyle/>
          <a:p>
            <a:pPr marL="0" indent="0">
              <a:buNone/>
            </a:pPr>
            <a:r>
              <a:rPr lang="en-US" sz="1400" dirty="0">
                <a:solidFill>
                  <a:schemeClr val="tx1"/>
                </a:solidFill>
                <a:latin typeface="Arial" panose="020B0604020202020204" pitchFamily="34" charset="0"/>
              </a:rPr>
              <a:t>had a final grade of 0, most likely because they did not sit the exam</a:t>
            </a:r>
            <a:endParaRPr lang="en-US" sz="1400" dirty="0">
              <a:latin typeface="Arial" panose="020B0604020202020204" pitchFamily="34" charset="0"/>
            </a:endParaRPr>
          </a:p>
        </p:txBody>
      </p:sp>
      <p:sp>
        <p:nvSpPr>
          <p:cNvPr id="10" name="stat2"/>
          <p:cNvSpPr/>
          <p:nvPr/>
        </p:nvSpPr>
        <p:spPr>
          <a:xfrm>
            <a:off x="6126480" y="1920240"/>
            <a:ext cx="2560320" cy="2468880"/>
          </a:xfrm>
          <a:prstGeom prst="roundRect">
            <a:avLst>
              <a:gd name="adj" fmla="val 2963"/>
            </a:avLst>
          </a:prstGeom>
          <a:solidFill>
            <a:srgbClr val="EEF2F4"/>
          </a:solidFill>
          <a:ln w="12700">
            <a:solidFill>
              <a:srgbClr val="EEF2F4"/>
            </a:solidFill>
            <a:prstDash val="solid"/>
          </a:ln>
        </p:spPr>
        <p:txBody>
          <a:bodyPr/>
          <a:lstStyle/>
          <a:p>
            <a:endParaRPr lang="tr-TR" dirty="0">
              <a:latin typeface="Arial" panose="020B0604020202020204" pitchFamily="34" charset="0"/>
            </a:endParaRPr>
          </a:p>
        </p:txBody>
      </p:sp>
      <p:sp>
        <p:nvSpPr>
          <p:cNvPr id="11" name="statBig2"/>
          <p:cNvSpPr txBox="1"/>
          <p:nvPr/>
        </p:nvSpPr>
        <p:spPr>
          <a:xfrm>
            <a:off x="6309360" y="2103120"/>
            <a:ext cx="2194560" cy="1005840"/>
          </a:xfrm>
          <a:prstGeom prst="rect">
            <a:avLst/>
          </a:prstGeom>
          <a:noFill/>
          <a:ln/>
        </p:spPr>
        <p:txBody>
          <a:bodyPr wrap="square" lIns="0" tIns="0" rIns="0" bIns="0" rtlCol="0" anchor="ctr"/>
          <a:lstStyle/>
          <a:p>
            <a:pPr marL="0" indent="0">
              <a:buNone/>
            </a:pPr>
            <a:r>
              <a:rPr lang="en-US" sz="4800" b="1" dirty="0">
                <a:solidFill>
                  <a:schemeClr val="accent1"/>
                </a:solidFill>
                <a:latin typeface="Arial" panose="020B0604020202020204" pitchFamily="34" charset="0"/>
                <a:ea typeface="Cambria" pitchFamily="34" charset="-122"/>
                <a:cs typeface="Arial" panose="020B0604020202020204" pitchFamily="34" charset="0"/>
              </a:rPr>
              <a:t>21%</a:t>
            </a:r>
            <a:endParaRPr lang="en-US" sz="4800" dirty="0">
              <a:latin typeface="Arial" panose="020B0604020202020204" pitchFamily="34" charset="0"/>
            </a:endParaRPr>
          </a:p>
        </p:txBody>
      </p:sp>
      <p:sp>
        <p:nvSpPr>
          <p:cNvPr id="12" name="statSmall2"/>
          <p:cNvSpPr txBox="1"/>
          <p:nvPr/>
        </p:nvSpPr>
        <p:spPr>
          <a:xfrm>
            <a:off x="6309360" y="3154680"/>
            <a:ext cx="2194560" cy="1005840"/>
          </a:xfrm>
          <a:prstGeom prst="rect">
            <a:avLst/>
          </a:prstGeom>
          <a:noFill/>
          <a:ln/>
        </p:spPr>
        <p:txBody>
          <a:bodyPr wrap="square" lIns="0" tIns="0" rIns="0" bIns="0" rtlCol="0" anchor="t"/>
          <a:lstStyle/>
          <a:p>
            <a:pPr marL="0" indent="0">
              <a:buNone/>
            </a:pPr>
            <a:r>
              <a:rPr lang="en-US" sz="1400" dirty="0">
                <a:solidFill>
                  <a:schemeClr val="tx1"/>
                </a:solidFill>
                <a:latin typeface="Arial" panose="020B0604020202020204" pitchFamily="34" charset="0"/>
              </a:rPr>
              <a:t>pass rate among students who had already failed two or more classes</a:t>
            </a:r>
            <a:endParaRPr lang="en-US" sz="1400" dirty="0">
              <a:latin typeface="Arial" panose="020B0604020202020204" pitchFamily="34" charset="0"/>
            </a:endParaRPr>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2800" b="1" dirty="0">
                <a:solidFill>
                  <a:schemeClr val="tx2"/>
                </a:solidFill>
              </a:rPr>
              <a:t>Past failures are the clearest warning sign</a:t>
            </a:r>
            <a:endParaRPr lang="en-US" sz="2800" dirty="0"/>
          </a:p>
        </p:txBody>
      </p:sp>
      <p:graphicFrame>
        <p:nvGraphicFramePr>
          <p:cNvPr id="3" name="passByFailuresChart"/>
          <p:cNvGraphicFramePr/>
          <p:nvPr/>
        </p:nvGraphicFramePr>
        <p:xfrm>
          <a:off x="365760" y="1097280"/>
          <a:ext cx="49377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4" name="takeawayCard"/>
          <p:cNvSpPr/>
          <p:nvPr/>
        </p:nvSpPr>
        <p:spPr>
          <a:xfrm>
            <a:off x="5577840" y="1188720"/>
            <a:ext cx="3108960" cy="3291840"/>
          </a:xfrm>
          <a:prstGeom prst="roundRect">
            <a:avLst>
              <a:gd name="adj" fmla="val 2353"/>
            </a:avLst>
          </a:prstGeom>
          <a:solidFill>
            <a:srgbClr val="EEF2F4"/>
          </a:solidFill>
          <a:ln w="12700">
            <a:solidFill>
              <a:srgbClr val="EEF2F4"/>
            </a:solidFill>
            <a:prstDash val="solid"/>
          </a:ln>
        </p:spPr>
        <p:txBody>
          <a:bodyPr/>
          <a:lstStyle/>
          <a:p>
            <a:endParaRPr lang="tr-TR" dirty="0">
              <a:latin typeface="Arial" panose="020B0604020202020204" pitchFamily="34" charset="0"/>
            </a:endParaRPr>
          </a:p>
        </p:txBody>
      </p:sp>
      <p:sp>
        <p:nvSpPr>
          <p:cNvPr id="5" name="takeawayText"/>
          <p:cNvSpPr txBox="1"/>
          <p:nvPr/>
        </p:nvSpPr>
        <p:spPr>
          <a:xfrm>
            <a:off x="5760720" y="1325880"/>
            <a:ext cx="2743200" cy="3063240"/>
          </a:xfrm>
          <a:prstGeom prst="rect">
            <a:avLst/>
          </a:prstGeom>
          <a:noFill/>
          <a:ln/>
        </p:spPr>
        <p:txBody>
          <a:bodyPr wrap="square" lIns="0" tIns="0" rIns="0" bIns="0" rtlCol="0" anchor="t"/>
          <a:lstStyle/>
          <a:p>
            <a:pPr marL="0" indent="0">
              <a:spcAft>
                <a:spcPts val="600"/>
              </a:spcAft>
              <a:buNone/>
            </a:pPr>
            <a:r>
              <a:rPr lang="en-US" sz="1600" b="1" dirty="0">
                <a:solidFill>
                  <a:schemeClr val="tx2"/>
                </a:solidFill>
                <a:latin typeface="Arial" panose="020B0604020202020204" pitchFamily="34" charset="0"/>
              </a:rPr>
              <a:t>What we see</a:t>
            </a:r>
            <a:endParaRPr lang="en-US" sz="1400" dirty="0">
              <a:latin typeface="Arial" panose="020B0604020202020204" pitchFamily="34" charset="0"/>
            </a:endParaRPr>
          </a:p>
          <a:p>
            <a:pPr marL="342900" indent="-342900">
              <a:spcAft>
                <a:spcPts val="600"/>
              </a:spcAft>
              <a:buSzPct val="100000"/>
              <a:buChar char="•"/>
            </a:pPr>
            <a:r>
              <a:rPr lang="en-US" sz="1400" dirty="0">
                <a:solidFill>
                  <a:schemeClr val="tx1"/>
                </a:solidFill>
                <a:latin typeface="Arial" panose="020B0604020202020204" pitchFamily="34" charset="0"/>
              </a:rPr>
              <a:t>Students who already failed one class pass at about half the rate of those with no failures; after two or more, at under a third.</a:t>
            </a:r>
            <a:endParaRPr lang="en-US" sz="1400" dirty="0">
              <a:latin typeface="Arial" panose="020B0604020202020204" pitchFamily="34" charset="0"/>
            </a:endParaRPr>
          </a:p>
          <a:p>
            <a:pPr marL="342900" indent="-342900">
              <a:spcAft>
                <a:spcPts val="600"/>
              </a:spcAft>
              <a:buSzPct val="100000"/>
              <a:buChar char="•"/>
            </a:pPr>
            <a:r>
              <a:rPr lang="en-US" sz="1400" dirty="0">
                <a:solidFill>
                  <a:schemeClr val="tx1"/>
                </a:solidFill>
                <a:latin typeface="Arial" panose="020B0604020202020204" pitchFamily="34" charset="0"/>
              </a:rPr>
              <a:t>This holds after taking study time, family background, sex and absences into account.</a:t>
            </a:r>
            <a:endParaRPr lang="en-US" sz="1400" dirty="0">
              <a:latin typeface="Arial" panose="020B0604020202020204" pitchFamily="34" charset="0"/>
            </a:endParaRPr>
          </a:p>
          <a:p>
            <a:pPr marL="342900" indent="-342900">
              <a:spcAft>
                <a:spcPts val="600"/>
              </a:spcAft>
              <a:buSzPct val="100000"/>
              <a:buChar char="•"/>
            </a:pPr>
            <a:r>
              <a:rPr lang="en-US" sz="1400" dirty="0">
                <a:solidFill>
                  <a:schemeClr val="tx1"/>
                </a:solidFill>
                <a:latin typeface="Arial" panose="020B0604020202020204" pitchFamily="34" charset="0"/>
              </a:rPr>
              <a:t>Going out with friends very often and lower maternal education show smaller, but consistent, links.</a:t>
            </a:r>
            <a:endParaRPr lang="en-US" sz="1400" dirty="0">
              <a:latin typeface="Arial" panose="020B0604020202020204" pitchFamily="34" charset="0"/>
            </a:endParaRPr>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2800" b="1" dirty="0">
                <a:solidFill>
                  <a:schemeClr val="tx2"/>
                </a:solidFill>
              </a:rPr>
              <a:t>What this means for a typical student</a:t>
            </a:r>
            <a:endParaRPr lang="en-US" sz="2800" dirty="0"/>
          </a:p>
        </p:txBody>
      </p:sp>
      <p:graphicFrame>
        <p:nvGraphicFramePr>
          <p:cNvPr id="3" name="predictedPassChart"/>
          <p:cNvGraphicFramePr/>
          <p:nvPr/>
        </p:nvGraphicFramePr>
        <p:xfrm>
          <a:off x="365760" y="1097280"/>
          <a:ext cx="512064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4" name="bigShift"/>
          <p:cNvSpPr txBox="1"/>
          <p:nvPr/>
        </p:nvSpPr>
        <p:spPr>
          <a:xfrm>
            <a:off x="5760720" y="1234440"/>
            <a:ext cx="2926080" cy="731520"/>
          </a:xfrm>
          <a:prstGeom prst="rect">
            <a:avLst/>
          </a:prstGeom>
          <a:noFill/>
          <a:ln/>
        </p:spPr>
        <p:txBody>
          <a:bodyPr wrap="square" lIns="0" tIns="0" rIns="0" bIns="0" rtlCol="0" anchor="ctr"/>
          <a:lstStyle/>
          <a:p>
            <a:pPr marL="0" indent="0">
              <a:buNone/>
            </a:pPr>
            <a:r>
              <a:rPr lang="en-US" sz="3400" b="1" dirty="0">
                <a:solidFill>
                  <a:schemeClr val="accent1"/>
                </a:solidFill>
                <a:latin typeface="Arial" panose="020B0604020202020204" pitchFamily="34" charset="0"/>
                <a:ea typeface="Cambria" pitchFamily="34" charset="-122"/>
                <a:cs typeface="Arial" panose="020B0604020202020204" pitchFamily="34" charset="0"/>
              </a:rPr>
              <a:t>72% → 31%</a:t>
            </a:r>
            <a:endParaRPr lang="en-US" sz="3400" dirty="0">
              <a:latin typeface="Arial" panose="020B0604020202020204" pitchFamily="34" charset="0"/>
            </a:endParaRPr>
          </a:p>
        </p:txBody>
      </p:sp>
      <p:sp>
        <p:nvSpPr>
          <p:cNvPr id="5" name="bigShiftLabel"/>
          <p:cNvSpPr txBox="1"/>
          <p:nvPr/>
        </p:nvSpPr>
        <p:spPr>
          <a:xfrm>
            <a:off x="5760720" y="1965960"/>
            <a:ext cx="2926080" cy="822960"/>
          </a:xfrm>
          <a:prstGeom prst="rect">
            <a:avLst/>
          </a:prstGeom>
          <a:noFill/>
          <a:ln/>
        </p:spPr>
        <p:txBody>
          <a:bodyPr wrap="square" lIns="0" tIns="0" rIns="0" bIns="0" rtlCol="0" anchor="t"/>
          <a:lstStyle/>
          <a:p>
            <a:pPr marL="0" indent="0">
              <a:buNone/>
            </a:pPr>
            <a:r>
              <a:rPr lang="en-US" sz="1400" dirty="0">
                <a:solidFill>
                  <a:schemeClr val="tx1"/>
                </a:solidFill>
                <a:latin typeface="Arial" panose="020B0604020202020204" pitchFamily="34" charset="0"/>
              </a:rPr>
              <a:t>Predicted chance of passing for an otherwise typical student with no previous failures compared with two.</a:t>
            </a:r>
            <a:endParaRPr lang="en-US" sz="1400" dirty="0">
              <a:latin typeface="Arial" panose="020B0604020202020204" pitchFamily="34" charset="0"/>
            </a:endParaRPr>
          </a:p>
        </p:txBody>
      </p:sp>
      <p:sp>
        <p:nvSpPr>
          <p:cNvPr id="6" name="practicalUse"/>
          <p:cNvSpPr txBox="1"/>
          <p:nvPr/>
        </p:nvSpPr>
        <p:spPr>
          <a:xfrm>
            <a:off x="5760720" y="3017520"/>
            <a:ext cx="2926080" cy="1371600"/>
          </a:xfrm>
          <a:prstGeom prst="rect">
            <a:avLst/>
          </a:prstGeom>
          <a:noFill/>
          <a:ln/>
        </p:spPr>
        <p:txBody>
          <a:bodyPr wrap="square" lIns="0" tIns="0" rIns="0" bIns="0" rtlCol="0" anchor="t"/>
          <a:lstStyle/>
          <a:p>
            <a:pPr marL="0" indent="0">
              <a:buNone/>
            </a:pPr>
            <a:r>
              <a:rPr lang="en-US" sz="1400" i="1" dirty="0">
                <a:solidFill>
                  <a:schemeClr val="tx2"/>
                </a:solidFill>
                <a:latin typeface="Arial" panose="020B0604020202020204" pitchFamily="34" charset="0"/>
              </a:rPr>
              <a:t>Practical use: past failures are already known to the school at the start of the year, so they are a simple, early flag for offering extra support.</a:t>
            </a:r>
            <a:endParaRPr lang="en-US" sz="1400" dirty="0">
              <a:latin typeface="Arial" panose="020B0604020202020204" pitchFamily="34" charset="0"/>
            </a:endParaRPr>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2800" b="1" dirty="0">
                <a:solidFill>
                  <a:schemeClr val="tx2"/>
                </a:solidFill>
              </a:rPr>
              <a:t>How confident can we be?</a:t>
            </a:r>
            <a:endParaRPr lang="en-US" sz="2800" dirty="0"/>
          </a:p>
        </p:txBody>
      </p:sp>
      <p:sp>
        <p:nvSpPr>
          <p:cNvPr id="3" name="limitNum0"/>
          <p:cNvSpPr/>
          <p:nvPr/>
        </p:nvSpPr>
        <p:spPr>
          <a:xfrm>
            <a:off x="457200" y="1188720"/>
            <a:ext cx="457200" cy="457200"/>
          </a:xfrm>
          <a:prstGeom prst="ellipse">
            <a:avLst/>
          </a:prstGeom>
          <a:solidFill>
            <a:schemeClr val="tx2"/>
          </a:solidFill>
          <a:ln w="12700">
            <a:solidFill>
              <a:schemeClr val="tx2"/>
            </a:solidFill>
            <a:prstDash val="solid"/>
          </a:ln>
        </p:spPr>
        <p:txBody>
          <a:bodyPr/>
          <a:lstStyle/>
          <a:p>
            <a:endParaRPr lang="tr-TR" dirty="0">
              <a:latin typeface="Arial" panose="020B0604020202020204" pitchFamily="34" charset="0"/>
            </a:endParaRPr>
          </a:p>
        </p:txBody>
      </p:sp>
      <p:sp>
        <p:nvSpPr>
          <p:cNvPr id="4" name="limitNumText0"/>
          <p:cNvSpPr txBox="1"/>
          <p:nvPr/>
        </p:nvSpPr>
        <p:spPr>
          <a:xfrm>
            <a:off x="457200" y="11887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Arial" panose="020B0604020202020204" pitchFamily="34" charset="0"/>
              </a:rPr>
              <a:t>1</a:t>
            </a:r>
            <a:endParaRPr lang="en-US" sz="1600" dirty="0">
              <a:latin typeface="Arial" panose="020B0604020202020204" pitchFamily="34" charset="0"/>
            </a:endParaRPr>
          </a:p>
        </p:txBody>
      </p:sp>
      <p:sp>
        <p:nvSpPr>
          <p:cNvPr id="5" name="limitText0"/>
          <p:cNvSpPr txBox="1"/>
          <p:nvPr/>
        </p:nvSpPr>
        <p:spPr>
          <a:xfrm>
            <a:off x="1051560" y="1143000"/>
            <a:ext cx="3429000" cy="1600200"/>
          </a:xfrm>
          <a:prstGeom prst="rect">
            <a:avLst/>
          </a:prstGeom>
          <a:noFill/>
          <a:ln/>
        </p:spPr>
        <p:txBody>
          <a:bodyPr wrap="square" lIns="0" tIns="0" rIns="0" bIns="0" rtlCol="0" anchor="t"/>
          <a:lstStyle/>
          <a:p>
            <a:pPr marL="0" indent="0">
              <a:spcAft>
                <a:spcPts val="400"/>
              </a:spcAft>
              <a:buNone/>
            </a:pPr>
            <a:r>
              <a:rPr lang="en-US" sz="1500" b="1" dirty="0">
                <a:solidFill>
                  <a:schemeClr val="tx2"/>
                </a:solidFill>
                <a:latin typeface="Arial" panose="020B0604020202020204" pitchFamily="34" charset="0"/>
              </a:rPr>
              <a:t>Most of the story is missing</a:t>
            </a:r>
            <a:endParaRPr lang="en-US" sz="1500" dirty="0">
              <a:latin typeface="Arial" panose="020B0604020202020204" pitchFamily="34" charset="0"/>
            </a:endParaRPr>
          </a:p>
          <a:p>
            <a:pPr marL="0" indent="0">
              <a:spcAft>
                <a:spcPts val="400"/>
              </a:spcAft>
              <a:buNone/>
            </a:pPr>
            <a:r>
              <a:rPr lang="en-US" sz="1300" dirty="0">
                <a:solidFill>
                  <a:schemeClr val="tx1"/>
                </a:solidFill>
                <a:latin typeface="Arial" panose="020B0604020202020204" pitchFamily="34" charset="0"/>
              </a:rPr>
              <a:t>The characteristics we have explain only about one fifth of the differences in grades. Ability, teaching quality and home circumstances are not measured.</a:t>
            </a:r>
            <a:endParaRPr lang="en-US" sz="1500" dirty="0">
              <a:latin typeface="Arial" panose="020B0604020202020204" pitchFamily="34" charset="0"/>
            </a:endParaRPr>
          </a:p>
        </p:txBody>
      </p:sp>
      <p:sp>
        <p:nvSpPr>
          <p:cNvPr id="6" name="limitNum1"/>
          <p:cNvSpPr/>
          <p:nvPr/>
        </p:nvSpPr>
        <p:spPr>
          <a:xfrm>
            <a:off x="4663440" y="1188720"/>
            <a:ext cx="457200" cy="457200"/>
          </a:xfrm>
          <a:prstGeom prst="ellipse">
            <a:avLst/>
          </a:prstGeom>
          <a:solidFill>
            <a:schemeClr val="tx2"/>
          </a:solidFill>
          <a:ln w="12700">
            <a:solidFill>
              <a:schemeClr val="tx2"/>
            </a:solidFill>
            <a:prstDash val="solid"/>
          </a:ln>
        </p:spPr>
        <p:txBody>
          <a:bodyPr/>
          <a:lstStyle/>
          <a:p>
            <a:endParaRPr lang="tr-TR" dirty="0">
              <a:latin typeface="Arial" panose="020B0604020202020204" pitchFamily="34" charset="0"/>
            </a:endParaRPr>
          </a:p>
        </p:txBody>
      </p:sp>
      <p:sp>
        <p:nvSpPr>
          <p:cNvPr id="7" name="limitNumText1"/>
          <p:cNvSpPr txBox="1"/>
          <p:nvPr/>
        </p:nvSpPr>
        <p:spPr>
          <a:xfrm>
            <a:off x="4663440" y="11887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Arial" panose="020B0604020202020204" pitchFamily="34" charset="0"/>
              </a:rPr>
              <a:t>2</a:t>
            </a:r>
            <a:endParaRPr lang="en-US" sz="1600" dirty="0">
              <a:latin typeface="Arial" panose="020B0604020202020204" pitchFamily="34" charset="0"/>
            </a:endParaRPr>
          </a:p>
        </p:txBody>
      </p:sp>
      <p:sp>
        <p:nvSpPr>
          <p:cNvPr id="8" name="limitText1"/>
          <p:cNvSpPr txBox="1"/>
          <p:nvPr/>
        </p:nvSpPr>
        <p:spPr>
          <a:xfrm>
            <a:off x="5257800" y="1143000"/>
            <a:ext cx="3429000" cy="1600200"/>
          </a:xfrm>
          <a:prstGeom prst="rect">
            <a:avLst/>
          </a:prstGeom>
          <a:noFill/>
          <a:ln/>
        </p:spPr>
        <p:txBody>
          <a:bodyPr wrap="square" lIns="0" tIns="0" rIns="0" bIns="0" rtlCol="0" anchor="t"/>
          <a:lstStyle/>
          <a:p>
            <a:pPr marL="0" indent="0">
              <a:spcAft>
                <a:spcPts val="400"/>
              </a:spcAft>
              <a:buNone/>
            </a:pPr>
            <a:r>
              <a:rPr lang="en-US" sz="1500" b="1" dirty="0">
                <a:solidFill>
                  <a:schemeClr val="tx2"/>
                </a:solidFill>
                <a:latin typeface="Arial" panose="020B0604020202020204" pitchFamily="34" charset="0"/>
              </a:rPr>
              <a:t>Not a reliable screening tool</a:t>
            </a:r>
            <a:endParaRPr lang="en-US" sz="1500" dirty="0">
              <a:latin typeface="Arial" panose="020B0604020202020204" pitchFamily="34" charset="0"/>
            </a:endParaRPr>
          </a:p>
          <a:p>
            <a:pPr marL="0" indent="0">
              <a:spcAft>
                <a:spcPts val="400"/>
              </a:spcAft>
              <a:buNone/>
            </a:pPr>
            <a:r>
              <a:rPr lang="en-US" sz="1300" dirty="0">
                <a:solidFill>
                  <a:schemeClr val="tx1"/>
                </a:solidFill>
                <a:latin typeface="Arial" panose="020B0604020202020204" pitchFamily="34" charset="0"/>
              </a:rPr>
              <a:t>The model correctly flags only about one in three students who actually fail. It should support, not replace, teachers' judgement.</a:t>
            </a:r>
            <a:endParaRPr lang="en-US" sz="1500" dirty="0">
              <a:latin typeface="Arial" panose="020B0604020202020204" pitchFamily="34" charset="0"/>
            </a:endParaRPr>
          </a:p>
        </p:txBody>
      </p:sp>
      <p:sp>
        <p:nvSpPr>
          <p:cNvPr id="9" name="limitNum2"/>
          <p:cNvSpPr/>
          <p:nvPr/>
        </p:nvSpPr>
        <p:spPr>
          <a:xfrm>
            <a:off x="457200" y="2971800"/>
            <a:ext cx="457200" cy="457200"/>
          </a:xfrm>
          <a:prstGeom prst="ellipse">
            <a:avLst/>
          </a:prstGeom>
          <a:solidFill>
            <a:schemeClr val="tx2"/>
          </a:solidFill>
          <a:ln w="12700">
            <a:solidFill>
              <a:schemeClr val="tx2"/>
            </a:solidFill>
            <a:prstDash val="solid"/>
          </a:ln>
        </p:spPr>
        <p:txBody>
          <a:bodyPr/>
          <a:lstStyle/>
          <a:p>
            <a:endParaRPr lang="tr-TR" dirty="0">
              <a:latin typeface="Arial" panose="020B0604020202020204" pitchFamily="34" charset="0"/>
            </a:endParaRPr>
          </a:p>
        </p:txBody>
      </p:sp>
      <p:sp>
        <p:nvSpPr>
          <p:cNvPr id="10" name="limitNumText2"/>
          <p:cNvSpPr txBox="1"/>
          <p:nvPr/>
        </p:nvSpPr>
        <p:spPr>
          <a:xfrm>
            <a:off x="457200" y="297180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Arial" panose="020B0604020202020204" pitchFamily="34" charset="0"/>
              </a:rPr>
              <a:t>3</a:t>
            </a:r>
            <a:endParaRPr lang="en-US" sz="1600" dirty="0">
              <a:latin typeface="Arial" panose="020B0604020202020204" pitchFamily="34" charset="0"/>
            </a:endParaRPr>
          </a:p>
        </p:txBody>
      </p:sp>
      <p:sp>
        <p:nvSpPr>
          <p:cNvPr id="11" name="limitText2"/>
          <p:cNvSpPr txBox="1"/>
          <p:nvPr/>
        </p:nvSpPr>
        <p:spPr>
          <a:xfrm>
            <a:off x="1051560" y="2926080"/>
            <a:ext cx="3429000" cy="1600200"/>
          </a:xfrm>
          <a:prstGeom prst="rect">
            <a:avLst/>
          </a:prstGeom>
          <a:noFill/>
          <a:ln/>
        </p:spPr>
        <p:txBody>
          <a:bodyPr wrap="square" lIns="0" tIns="0" rIns="0" bIns="0" rtlCol="0" anchor="t"/>
          <a:lstStyle/>
          <a:p>
            <a:pPr marL="0" indent="0">
              <a:spcAft>
                <a:spcPts val="400"/>
              </a:spcAft>
              <a:buNone/>
            </a:pPr>
            <a:r>
              <a:rPr lang="en-US" sz="1500" b="1" dirty="0">
                <a:solidFill>
                  <a:schemeClr val="tx2"/>
                </a:solidFill>
                <a:latin typeface="Arial" panose="020B0604020202020204" pitchFamily="34" charset="0"/>
              </a:rPr>
              <a:t>Some results depend on the non-completers</a:t>
            </a:r>
            <a:endParaRPr lang="en-US" sz="1500" dirty="0">
              <a:latin typeface="Arial" panose="020B0604020202020204" pitchFamily="34" charset="0"/>
            </a:endParaRPr>
          </a:p>
          <a:p>
            <a:pPr marL="0" indent="0">
              <a:spcAft>
                <a:spcPts val="400"/>
              </a:spcAft>
              <a:buNone/>
            </a:pPr>
            <a:r>
              <a:rPr lang="en-US" sz="1300" dirty="0">
                <a:solidFill>
                  <a:schemeClr val="tx1"/>
                </a:solidFill>
                <a:latin typeface="Arial" panose="020B0604020202020204" pitchFamily="34" charset="0"/>
              </a:rPr>
              <a:t>When the 38 students without a final exam are set aside, more absences clearly go with lower grades, and the gap between boys and girls shrinks by about 40%.</a:t>
            </a:r>
            <a:endParaRPr lang="en-US" sz="1500" dirty="0">
              <a:latin typeface="Arial" panose="020B0604020202020204" pitchFamily="34" charset="0"/>
            </a:endParaRPr>
          </a:p>
        </p:txBody>
      </p:sp>
      <p:sp>
        <p:nvSpPr>
          <p:cNvPr id="12" name="limitNum3"/>
          <p:cNvSpPr/>
          <p:nvPr/>
        </p:nvSpPr>
        <p:spPr>
          <a:xfrm>
            <a:off x="4663440" y="2971800"/>
            <a:ext cx="457200" cy="457200"/>
          </a:xfrm>
          <a:prstGeom prst="ellipse">
            <a:avLst/>
          </a:prstGeom>
          <a:solidFill>
            <a:schemeClr val="tx2"/>
          </a:solidFill>
          <a:ln w="12700">
            <a:solidFill>
              <a:schemeClr val="tx2"/>
            </a:solidFill>
            <a:prstDash val="solid"/>
          </a:ln>
        </p:spPr>
        <p:txBody>
          <a:bodyPr/>
          <a:lstStyle/>
          <a:p>
            <a:endParaRPr lang="tr-TR" dirty="0">
              <a:latin typeface="Arial" panose="020B0604020202020204" pitchFamily="34" charset="0"/>
            </a:endParaRPr>
          </a:p>
        </p:txBody>
      </p:sp>
      <p:sp>
        <p:nvSpPr>
          <p:cNvPr id="13" name="limitNumText3"/>
          <p:cNvSpPr txBox="1"/>
          <p:nvPr/>
        </p:nvSpPr>
        <p:spPr>
          <a:xfrm>
            <a:off x="4663440" y="297180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Arial" panose="020B0604020202020204" pitchFamily="34" charset="0"/>
              </a:rPr>
              <a:t>4</a:t>
            </a:r>
            <a:endParaRPr lang="en-US" sz="1600" dirty="0">
              <a:latin typeface="Arial" panose="020B0604020202020204" pitchFamily="34" charset="0"/>
            </a:endParaRPr>
          </a:p>
        </p:txBody>
      </p:sp>
      <p:sp>
        <p:nvSpPr>
          <p:cNvPr id="14" name="limitText3"/>
          <p:cNvSpPr txBox="1"/>
          <p:nvPr/>
        </p:nvSpPr>
        <p:spPr>
          <a:xfrm>
            <a:off x="5257800" y="2926080"/>
            <a:ext cx="3429000" cy="1600200"/>
          </a:xfrm>
          <a:prstGeom prst="rect">
            <a:avLst/>
          </a:prstGeom>
          <a:noFill/>
          <a:ln/>
        </p:spPr>
        <p:txBody>
          <a:bodyPr wrap="square" lIns="0" tIns="0" rIns="0" bIns="0" rtlCol="0" anchor="t"/>
          <a:lstStyle/>
          <a:p>
            <a:pPr marL="0" indent="0">
              <a:spcAft>
                <a:spcPts val="400"/>
              </a:spcAft>
              <a:buNone/>
            </a:pPr>
            <a:r>
              <a:rPr lang="en-US" sz="1500" b="1" dirty="0">
                <a:solidFill>
                  <a:schemeClr val="tx2"/>
                </a:solidFill>
                <a:latin typeface="Arial" panose="020B0604020202020204" pitchFamily="34" charset="0"/>
              </a:rPr>
              <a:t>Small, old, local sample</a:t>
            </a:r>
            <a:endParaRPr lang="en-US" sz="1500" dirty="0">
              <a:latin typeface="Arial" panose="020B0604020202020204" pitchFamily="34" charset="0"/>
            </a:endParaRPr>
          </a:p>
          <a:p>
            <a:pPr marL="0" indent="0">
              <a:spcAft>
                <a:spcPts val="400"/>
              </a:spcAft>
              <a:buNone/>
            </a:pPr>
            <a:r>
              <a:rPr lang="en-US" sz="1300" dirty="0">
                <a:solidFill>
                  <a:schemeClr val="tx1"/>
                </a:solidFill>
                <a:latin typeface="Arial" panose="020B0604020202020204" pitchFamily="34" charset="0"/>
              </a:rPr>
              <a:t>Two schools in Portugal, one year (2005 to 2006), one subject. Other schools and systems may differ.</a:t>
            </a:r>
            <a:endParaRPr lang="en-US" sz="1500" dirty="0">
              <a:latin typeface="Arial" panose="020B0604020202020204" pitchFamily="34" charset="0"/>
            </a:endParaRPr>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2800" b="1" dirty="0">
                <a:solidFill>
                  <a:schemeClr val="tx2"/>
                </a:solidFill>
              </a:rPr>
              <a:t>What we can and cannot conclude</a:t>
            </a:r>
            <a:endParaRPr lang="en-US" sz="2800" dirty="0"/>
          </a:p>
        </p:txBody>
      </p:sp>
      <p:sp>
        <p:nvSpPr>
          <p:cNvPr id="3" name="canCard"/>
          <p:cNvSpPr/>
          <p:nvPr/>
        </p:nvSpPr>
        <p:spPr>
          <a:xfrm>
            <a:off x="457200" y="1188720"/>
            <a:ext cx="3977640" cy="2926080"/>
          </a:xfrm>
          <a:prstGeom prst="roundRect">
            <a:avLst>
              <a:gd name="adj" fmla="val 2500"/>
            </a:avLst>
          </a:prstGeom>
          <a:solidFill>
            <a:srgbClr val="EEF2F4"/>
          </a:solidFill>
          <a:ln w="12700">
            <a:solidFill>
              <a:srgbClr val="EEF2F4"/>
            </a:solidFill>
            <a:prstDash val="solid"/>
          </a:ln>
        </p:spPr>
        <p:txBody>
          <a:bodyPr/>
          <a:lstStyle/>
          <a:p>
            <a:endParaRPr lang="tr-TR" dirty="0">
              <a:latin typeface="Arial" panose="020B0604020202020204" pitchFamily="34" charset="0"/>
            </a:endParaRPr>
          </a:p>
        </p:txBody>
      </p:sp>
      <p:sp>
        <p:nvSpPr>
          <p:cNvPr id="4" name="cannotCard"/>
          <p:cNvSpPr/>
          <p:nvPr/>
        </p:nvSpPr>
        <p:spPr>
          <a:xfrm>
            <a:off x="4709160" y="1188720"/>
            <a:ext cx="3977640" cy="2926080"/>
          </a:xfrm>
          <a:prstGeom prst="roundRect">
            <a:avLst>
              <a:gd name="adj" fmla="val 2500"/>
            </a:avLst>
          </a:prstGeom>
          <a:solidFill>
            <a:srgbClr val="1F3A4D"/>
          </a:solidFill>
          <a:ln w="12700">
            <a:solidFill>
              <a:srgbClr val="1F3A4D"/>
            </a:solidFill>
            <a:prstDash val="solid"/>
          </a:ln>
        </p:spPr>
        <p:txBody>
          <a:bodyPr/>
          <a:lstStyle/>
          <a:p>
            <a:endParaRPr lang="tr-TR" dirty="0">
              <a:latin typeface="Arial" panose="020B0604020202020204" pitchFamily="34" charset="0"/>
            </a:endParaRPr>
          </a:p>
        </p:txBody>
      </p:sp>
      <p:sp>
        <p:nvSpPr>
          <p:cNvPr id="5" name="canText"/>
          <p:cNvSpPr txBox="1"/>
          <p:nvPr/>
        </p:nvSpPr>
        <p:spPr>
          <a:xfrm>
            <a:off x="685800" y="1371600"/>
            <a:ext cx="3566160" cy="2651760"/>
          </a:xfrm>
          <a:prstGeom prst="rect">
            <a:avLst/>
          </a:prstGeom>
          <a:noFill/>
          <a:ln/>
        </p:spPr>
        <p:txBody>
          <a:bodyPr wrap="square" lIns="0" tIns="0" rIns="0" bIns="0" rtlCol="0" anchor="t"/>
          <a:lstStyle/>
          <a:p>
            <a:pPr marL="0" indent="0">
              <a:spcAft>
                <a:spcPts val="800"/>
              </a:spcAft>
              <a:buNone/>
            </a:pPr>
            <a:r>
              <a:rPr lang="en-US" sz="1700" b="1" dirty="0">
                <a:solidFill>
                  <a:schemeClr val="tx2"/>
                </a:solidFill>
                <a:latin typeface="Arial" panose="020B0604020202020204" pitchFamily="34" charset="0"/>
              </a:rPr>
              <a:t>Supported by the data</a:t>
            </a:r>
            <a:endParaRPr lang="en-US" sz="1400" dirty="0">
              <a:latin typeface="Arial" panose="020B0604020202020204" pitchFamily="34" charset="0"/>
            </a:endParaRPr>
          </a:p>
          <a:p>
            <a:pPr marL="342900" indent="-342900">
              <a:spcAft>
                <a:spcPts val="800"/>
              </a:spcAft>
              <a:buSzPct val="100000"/>
              <a:buChar char="•"/>
            </a:pPr>
            <a:r>
              <a:rPr lang="en-US" sz="1400" dirty="0">
                <a:solidFill>
                  <a:schemeClr val="tx1"/>
                </a:solidFill>
                <a:latin typeface="Arial" panose="020B0604020202020204" pitchFamily="34" charset="0"/>
              </a:rPr>
              <a:t>Students with past failures are at much higher risk of failing again.</a:t>
            </a:r>
            <a:endParaRPr lang="en-US" sz="1400" dirty="0">
              <a:latin typeface="Arial" panose="020B0604020202020204" pitchFamily="34" charset="0"/>
            </a:endParaRPr>
          </a:p>
          <a:p>
            <a:pPr marL="342900" indent="-342900">
              <a:spcAft>
                <a:spcPts val="800"/>
              </a:spcAft>
              <a:buSzPct val="100000"/>
              <a:buChar char="•"/>
            </a:pPr>
            <a:r>
              <a:rPr lang="en-US" sz="1400" dirty="0">
                <a:solidFill>
                  <a:schemeClr val="tx1"/>
                </a:solidFill>
                <a:latin typeface="Arial" panose="020B0604020202020204" pitchFamily="34" charset="0"/>
              </a:rPr>
              <a:t>Frequent socialising and lower maternal education go with slightly lower grades.</a:t>
            </a:r>
            <a:endParaRPr lang="en-US" sz="1400" dirty="0">
              <a:latin typeface="Arial" panose="020B0604020202020204" pitchFamily="34" charset="0"/>
            </a:endParaRPr>
          </a:p>
          <a:p>
            <a:pPr marL="342900" indent="-342900">
              <a:spcAft>
                <a:spcPts val="800"/>
              </a:spcAft>
              <a:buSzPct val="100000"/>
              <a:buChar char="•"/>
            </a:pPr>
            <a:r>
              <a:rPr lang="en-US" sz="1400" dirty="0">
                <a:solidFill>
                  <a:schemeClr val="tx1"/>
                </a:solidFill>
                <a:latin typeface="Arial" panose="020B0604020202020204" pitchFamily="34" charset="0"/>
              </a:rPr>
              <a:t>About 1 in 10 students did not complete the course; their records need checking.</a:t>
            </a:r>
            <a:endParaRPr lang="en-US" sz="1400" dirty="0">
              <a:latin typeface="Arial" panose="020B0604020202020204" pitchFamily="34" charset="0"/>
            </a:endParaRPr>
          </a:p>
        </p:txBody>
      </p:sp>
      <p:sp>
        <p:nvSpPr>
          <p:cNvPr id="6" name="cannotText"/>
          <p:cNvSpPr txBox="1"/>
          <p:nvPr/>
        </p:nvSpPr>
        <p:spPr>
          <a:xfrm>
            <a:off x="4937760" y="1371600"/>
            <a:ext cx="3566160" cy="2651760"/>
          </a:xfrm>
          <a:prstGeom prst="rect">
            <a:avLst/>
          </a:prstGeom>
          <a:noFill/>
          <a:ln/>
        </p:spPr>
        <p:txBody>
          <a:bodyPr wrap="square" lIns="0" tIns="0" rIns="0" bIns="0" rtlCol="0" anchor="t"/>
          <a:lstStyle/>
          <a:p>
            <a:pPr marL="0" indent="0">
              <a:spcAft>
                <a:spcPts val="800"/>
              </a:spcAft>
              <a:buNone/>
            </a:pPr>
            <a:r>
              <a:rPr lang="en-US" sz="1700" b="1" dirty="0">
                <a:solidFill>
                  <a:schemeClr val="bg1"/>
                </a:solidFill>
                <a:latin typeface="Arial" panose="020B0604020202020204" pitchFamily="34" charset="0"/>
              </a:rPr>
              <a:t>Not supported</a:t>
            </a:r>
            <a:endParaRPr lang="en-US" sz="1400" dirty="0">
              <a:latin typeface="Arial" panose="020B0604020202020204" pitchFamily="34" charset="0"/>
            </a:endParaRPr>
          </a:p>
          <a:p>
            <a:pPr marL="342900" indent="-342900">
              <a:spcAft>
                <a:spcPts val="800"/>
              </a:spcAft>
              <a:buSzPct val="100000"/>
              <a:buChar char="•"/>
            </a:pPr>
            <a:r>
              <a:rPr lang="en-US" sz="1400" dirty="0">
                <a:solidFill>
                  <a:schemeClr val="bg1"/>
                </a:solidFill>
                <a:latin typeface="Arial" panose="020B0604020202020204" pitchFamily="34" charset="0"/>
              </a:rPr>
              <a:t>That failing, going out or a mother's education causes lower grades.</a:t>
            </a:r>
            <a:endParaRPr lang="en-US" sz="1400" dirty="0">
              <a:latin typeface="Arial" panose="020B0604020202020204" pitchFamily="34" charset="0"/>
            </a:endParaRPr>
          </a:p>
          <a:p>
            <a:pPr marL="342900" indent="-342900">
              <a:spcAft>
                <a:spcPts val="800"/>
              </a:spcAft>
              <a:buSzPct val="100000"/>
              <a:buChar char="•"/>
            </a:pPr>
            <a:r>
              <a:rPr lang="en-US" sz="1400" dirty="0">
                <a:solidFill>
                  <a:schemeClr val="bg1"/>
                </a:solidFill>
                <a:latin typeface="Arial" panose="020B0604020202020204" pitchFamily="34" charset="0"/>
              </a:rPr>
              <a:t>That boys are better at Mathematics, or that extra support does not work.</a:t>
            </a:r>
            <a:endParaRPr lang="en-US" sz="1400" dirty="0">
              <a:latin typeface="Arial" panose="020B0604020202020204" pitchFamily="34" charset="0"/>
            </a:endParaRPr>
          </a:p>
          <a:p>
            <a:pPr marL="342900" indent="-342900">
              <a:spcAft>
                <a:spcPts val="800"/>
              </a:spcAft>
              <a:buSzPct val="100000"/>
              <a:buChar char="•"/>
            </a:pPr>
            <a:r>
              <a:rPr lang="en-US" sz="1400" dirty="0">
                <a:solidFill>
                  <a:schemeClr val="bg1"/>
                </a:solidFill>
                <a:latin typeface="Arial" panose="020B0604020202020204" pitchFamily="34" charset="0"/>
              </a:rPr>
              <a:t>That the model can decide which individual students will fail.</a:t>
            </a:r>
            <a:endParaRPr lang="en-US" sz="1400" dirty="0">
              <a:latin typeface="Arial" panose="020B0604020202020204" pitchFamily="34" charset="0"/>
            </a:endParaRPr>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6</a:t>
            </a:fld>
            <a:endParaRPr lang="en-US"/>
          </a:p>
        </p:txBody>
      </p:sp>
    </p:spTree>
  </p:cSld>
  <p:clrMapOvr>
    <a:masterClrMapping/>
  </p:clrMapOvr>
</p:sld>
</file>

<file path=ppt/theme/theme1.xml><?xml version="1.0" encoding="utf-8"?>
<a:theme xmlns:a="http://schemas.openxmlformats.org/drawingml/2006/main" name="Student Performance">
  <a:themeElements>
    <a:clrScheme name="Student Performance">
      <a:dk1>
        <a:srgbClr val="1E2A33"/>
      </a:dk1>
      <a:lt1>
        <a:srgbClr val="FFFFFF"/>
      </a:lt1>
      <a:dk2>
        <a:srgbClr val="1F3A4D"/>
      </a:dk2>
      <a:lt2>
        <a:srgbClr val="EEF2F4"/>
      </a:lt2>
      <a:accent1>
        <a:srgbClr val="C0392B"/>
      </a:accent1>
      <a:accent2>
        <a:srgbClr val="1F3A4D"/>
      </a:accent2>
      <a:accent3>
        <a:srgbClr val="7A8A96"/>
      </a:accent3>
      <a:accent4>
        <a:srgbClr val="2E86C1"/>
      </a:accent4>
      <a:accent5>
        <a:srgbClr val="B8C4CC"/>
      </a:accent5>
      <a:accent6>
        <a:srgbClr val="E8A33D"/>
      </a:accent6>
      <a:hlink>
        <a:srgbClr val="2E86C1"/>
      </a:hlink>
      <a:folHlink>
        <a:srgbClr val="6D2E46"/>
      </a:folHlink>
    </a:clrScheme>
    <a:fontScheme name="Student Performa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776</Words>
  <Application>Microsoft Office PowerPoint</Application>
  <PresentationFormat>On-screen Show (16:9)</PresentationFormat>
  <Paragraphs>64</Paragraphs>
  <Slides>6</Slides>
  <Notes>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6</vt:i4>
      </vt:variant>
    </vt:vector>
  </HeadingPairs>
  <TitlesOfParts>
    <vt:vector size="8" baseType="lpstr">
      <vt:lpstr>Arial</vt:lpstr>
      <vt:lpstr>Student Performance</vt:lpstr>
      <vt:lpstr>What is linked to failing Mathematics?</vt:lpstr>
      <vt:lpstr>One in three students did not pass</vt:lpstr>
      <vt:lpstr>Past failures are the clearest warning sign</vt:lpstr>
      <vt:lpstr>What this means for a typical student</vt:lpstr>
      <vt:lpstr>How confident can we be?</vt:lpstr>
      <vt:lpstr>What we can and cannot conclude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linked to failing Mathematics?</dc:title>
  <dc:subject>PptxGenJS Presentation</dc:subject>
  <dc:creator>Tarık Beyhan</dc:creator>
  <cp:lastModifiedBy>TARIK BEYHAN</cp:lastModifiedBy>
  <cp:revision>6</cp:revision>
  <cp:lastPrinted>2026-10-26T21:42:39Z</cp:lastPrinted>
  <dcterms:created xsi:type="dcterms:W3CDTF">2026-10-25T02:27:52Z</dcterms:created>
  <dcterms:modified xsi:type="dcterms:W3CDTF">2026-10-26T21:43:08Z</dcterms:modified>
</cp:coreProperties>
</file>